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Bitter Medium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</p:embeddedFont>
    <p:embeddedFont>
      <p:font typeface="Open Sans Bold" panose="020B0806030504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441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2437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Shopping Behavior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5994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data analysis project exploring transactional patterns across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3,900 purchases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using Python, SQL, and Power BI to surface actionable business insights.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696394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2825130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3093393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cleaning, feature engineering &amp; EDA with pandas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2696394"/>
            <a:ext cx="2634630" cy="922660"/>
          </a:xfrm>
          <a:prstGeom prst="roundRect">
            <a:avLst>
              <a:gd name="adj" fmla="val 564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384" y="2825130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3093393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SQL queries for revenue, segmentation &amp; behavior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2696394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1988" y="2825130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3093393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Executive-ready dashboard with dynamic filtering</a:t>
            </a:r>
            <a:endParaRPr lang="en-US" sz="9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379B3C-051E-4C06-B39C-77865991CD93}"/>
              </a:ext>
            </a:extLst>
          </p:cNvPr>
          <p:cNvSpPr/>
          <p:nvPr/>
        </p:nvSpPr>
        <p:spPr>
          <a:xfrm>
            <a:off x="8078296" y="4789088"/>
            <a:ext cx="999920" cy="354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806C50-74FE-4644-8BAE-86C0AC9AAD47}"/>
              </a:ext>
            </a:extLst>
          </p:cNvPr>
          <p:cNvSpPr/>
          <p:nvPr/>
        </p:nvSpPr>
        <p:spPr>
          <a:xfrm>
            <a:off x="4571962" y="3934990"/>
            <a:ext cx="999920" cy="354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6907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Overview &amp; Dataset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8236" y="938659"/>
            <a:ext cx="4102745" cy="3827934"/>
          </a:xfrm>
          <a:prstGeom prst="roundRect">
            <a:avLst>
              <a:gd name="adj" fmla="val 2297"/>
            </a:avLst>
          </a:prstGeom>
          <a:solidFill>
            <a:srgbClr val="D2600F"/>
          </a:solidFill>
          <a:ln/>
        </p:spPr>
      </p:sp>
      <p:sp>
        <p:nvSpPr>
          <p:cNvPr id="4" name="Text 2"/>
          <p:cNvSpPr/>
          <p:nvPr/>
        </p:nvSpPr>
        <p:spPr>
          <a:xfrm>
            <a:off x="530275" y="1058838"/>
            <a:ext cx="385866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275" y="1369740"/>
            <a:ext cx="385866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 spending patterns, customer segments, product preferences, and subscription behavior to guide strategic business decisions across marketing, pricing, and retention.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30275" y="2117006"/>
            <a:ext cx="3858667" cy="14288"/>
          </a:xfrm>
          <a:prstGeom prst="roundRect">
            <a:avLst>
              <a:gd name="adj" fmla="val 59998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275" y="2297013"/>
            <a:ext cx="385866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275" y="2607915"/>
            <a:ext cx="43158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Python (pandas)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</a:t>
            </a: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PostgreSQL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</a:t>
            </a: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Power BI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5665" y="1058838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5665" y="1384771"/>
            <a:ext cx="3926979" cy="3246611"/>
          </a:xfrm>
          <a:prstGeom prst="roundRect">
            <a:avLst>
              <a:gd name="adj" fmla="val 158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5665" y="1739503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25665" y="2091854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25665" y="2444204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25665" y="2990404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25665" y="3536603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25665" y="3888953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52467" y="146640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Attribute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1194" y="146640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Detail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52467" y="181875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size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11194" y="181875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rows × 18 columns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52467" y="2171105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11194" y="2171105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52467" y="2523455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 data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11194" y="2523455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Item, Category, Amount, Season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52467" y="306965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Behavior signals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11194" y="3069654"/>
            <a:ext cx="171464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Status, Discount Applied, Shipping Type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52467" y="361585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Satisfaction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11194" y="361585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Rating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52467" y="3968204"/>
            <a:ext cx="217184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quality issue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11194" y="3968204"/>
            <a:ext cx="1714649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missing values in Review Rating — imputed via median per category</a:t>
            </a:r>
            <a:endParaRPr lang="en-US" sz="9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F56811-32D2-4157-A119-9EA0BED34528}"/>
              </a:ext>
            </a:extLst>
          </p:cNvPr>
          <p:cNvSpPr/>
          <p:nvPr/>
        </p:nvSpPr>
        <p:spPr>
          <a:xfrm>
            <a:off x="8065140" y="4820022"/>
            <a:ext cx="1078860" cy="3073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1475"/>
            <a:ext cx="8151763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Data Preparation in Python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778148"/>
            <a:ext cx="860896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raw dataset was ingested, cleaned, and engineered using </a:t>
            </a:r>
            <a:r>
              <a:rPr lang="en-US" sz="7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pandas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 loading into PostgreSQL for SQL-layer analysis.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72741"/>
            <a:ext cx="4457849" cy="173853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783309"/>
            <a:ext cx="4043809" cy="6201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2892" y="2881982"/>
            <a:ext cx="38083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Exploration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632892" y="3059683"/>
            <a:ext cx="380836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with pandas; used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assess structure and summary statistics.</a:t>
            </a:r>
            <a:endParaRPr lang="en-US" sz="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3998" y="2783309"/>
            <a:ext cx="4043883" cy="6201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40771" y="2881982"/>
            <a:ext cx="380843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Missing Data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4740771" y="3059683"/>
            <a:ext cx="3808437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null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review_rating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values using median rating per product category — preserving distributional integrity.</a:t>
            </a:r>
            <a:endParaRPr lang="en-US" sz="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467546"/>
            <a:ext cx="4043809" cy="6201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2892" y="3566220"/>
            <a:ext cx="38083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Standardization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632892" y="3743920"/>
            <a:ext cx="380836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Renamed all columns to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consistency across Python, SQL, and documentation.</a:t>
            </a:r>
            <a:endParaRPr lang="en-US" sz="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3998" y="3467546"/>
            <a:ext cx="4043883" cy="62016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740771" y="3566220"/>
            <a:ext cx="380843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16" name="Text 9"/>
          <p:cNvSpPr/>
          <p:nvPr/>
        </p:nvSpPr>
        <p:spPr>
          <a:xfrm>
            <a:off x="4740771" y="3743920"/>
            <a:ext cx="3808437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(binned ages) and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columns to enable richer segmentation queries.</a:t>
            </a:r>
            <a:endParaRPr lang="en-US" sz="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151784"/>
            <a:ext cx="4043809" cy="62016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32892" y="4250457"/>
            <a:ext cx="38083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Redundancy Check</a:t>
            </a:r>
            <a:endParaRPr lang="en-US" sz="850" dirty="0"/>
          </a:p>
        </p:txBody>
      </p:sp>
      <p:sp>
        <p:nvSpPr>
          <p:cNvPr id="19" name="Text 11"/>
          <p:cNvSpPr/>
          <p:nvPr/>
        </p:nvSpPr>
        <p:spPr>
          <a:xfrm>
            <a:off x="632892" y="4428158"/>
            <a:ext cx="380836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were redundant — dropped </a:t>
            </a:r>
            <a:r>
              <a:rPr lang="en-US" sz="7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reduce noise.</a:t>
            </a:r>
            <a:endParaRPr lang="en-US" sz="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3998" y="4151784"/>
            <a:ext cx="4043883" cy="620167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740771" y="4250457"/>
            <a:ext cx="380843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DB Integration</a:t>
            </a:r>
            <a:endParaRPr lang="en-US" sz="850" dirty="0"/>
          </a:p>
        </p:txBody>
      </p:sp>
      <p:sp>
        <p:nvSpPr>
          <p:cNvPr id="22" name="Text 13"/>
          <p:cNvSpPr/>
          <p:nvPr/>
        </p:nvSpPr>
        <p:spPr>
          <a:xfrm>
            <a:off x="4740771" y="4428158"/>
            <a:ext cx="3808437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Python script to PostgreSQL and loaded the cleaned DataFrame directly into the database for SQL analysis.</a:t>
            </a:r>
            <a:endParaRPr lang="en-US" sz="7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3D097B-12F9-416E-B589-0E7335AF8B62}"/>
              </a:ext>
            </a:extLst>
          </p:cNvPr>
          <p:cNvSpPr/>
          <p:nvPr/>
        </p:nvSpPr>
        <p:spPr>
          <a:xfrm>
            <a:off x="8049248" y="4771951"/>
            <a:ext cx="999920" cy="354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630"/>
            <a:ext cx="8151763" cy="230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&amp; Spending Analysis (SQL)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687958"/>
            <a:ext cx="3986064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Findings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94" y="842665"/>
            <a:ext cx="3995589" cy="3655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8764" y="852190"/>
            <a:ext cx="3893418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Gender Revenue Gap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88764" y="1010915"/>
            <a:ext cx="3893418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</a:t>
            </a:r>
            <a:r>
              <a:rPr lang="en-US" sz="550" b="1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$157,890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Female customers at </a:t>
            </a:r>
            <a:r>
              <a:rPr lang="en-US" sz="5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$75,191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</a:t>
            </a:r>
            <a:r>
              <a:rPr lang="en-US" sz="5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2.1× gap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significant implications for targeting strategy.</a:t>
            </a:r>
            <a:endParaRPr lang="en-US" sz="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94" y="1276648"/>
            <a:ext cx="3995589" cy="3655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8764" y="1286173"/>
            <a:ext cx="3893418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Shipping Type Signal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88764" y="1444898"/>
            <a:ext cx="3893418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avg. purchase (</a:t>
            </a:r>
            <a:r>
              <a:rPr lang="en-US" sz="5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$60.48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outpaces Standard (</a:t>
            </a:r>
            <a:r>
              <a:rPr lang="en-US" sz="5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$58.46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— higher-intent buyers self-select into faster delivery options.</a:t>
            </a:r>
            <a:endParaRPr lang="en-US" sz="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94" y="1710630"/>
            <a:ext cx="3995589" cy="3655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8764" y="1720155"/>
            <a:ext cx="3893418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High-Spend Discount Users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88764" y="1878881"/>
            <a:ext cx="3893418" cy="187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50" b="1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839 customers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used discounts yet still spent above average — a high-value segment for precision-targeted promotions.</a:t>
            </a:r>
            <a:endParaRPr lang="en-US" sz="550" dirty="0"/>
          </a:p>
        </p:txBody>
      </p:sp>
      <p:sp>
        <p:nvSpPr>
          <p:cNvPr id="13" name="Text 8"/>
          <p:cNvSpPr/>
          <p:nvPr/>
        </p:nvSpPr>
        <p:spPr>
          <a:xfrm>
            <a:off x="4666580" y="687958"/>
            <a:ext cx="3986064" cy="11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by Age Group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580" y="852190"/>
            <a:ext cx="3986064" cy="28691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6580" y="3770561"/>
            <a:ext cx="4443264" cy="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at </a:t>
            </a:r>
            <a:r>
              <a:rPr lang="en-US" sz="4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$62,143</a:t>
            </a:r>
            <a:r>
              <a:rPr lang="en-US" sz="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with a steady decline across older cohorts — a clear signal for age-targeted spend allocation.</a:t>
            </a:r>
            <a:endParaRPr lang="en-US" sz="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934123"/>
            <a:ext cx="1689348" cy="86074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60920D-93D4-4E85-AF19-C85F246CA120}"/>
              </a:ext>
            </a:extLst>
          </p:cNvPr>
          <p:cNvSpPr/>
          <p:nvPr/>
        </p:nvSpPr>
        <p:spPr>
          <a:xfrm>
            <a:off x="8005894" y="4789088"/>
            <a:ext cx="1103949" cy="354412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1904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Subscription &amp; Loyalty Behavior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93936"/>
            <a:ext cx="5434161" cy="100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67892"/>
            <a:ext cx="4014415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27%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96119" y="2561406"/>
            <a:ext cx="401441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Subscriber Share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2793057"/>
            <a:ext cx="401441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1,053 of 3,900 customers hold an active subscription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33466" y="2067892"/>
            <a:ext cx="4014415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$59.49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4633466" y="2561406"/>
            <a:ext cx="401441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Subscriber Avg. Spend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633466" y="2793057"/>
            <a:ext cx="401441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vs. $59.87 for non-subscribers — near-identical per-transaction value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96119" y="3212157"/>
            <a:ext cx="4014415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$170K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496119" y="3705671"/>
            <a:ext cx="401441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Non-Sub Revenue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6119" y="3937322"/>
            <a:ext cx="401441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 drive $170,436 in total revenue vs. $62,645 for subscribers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33466" y="3212157"/>
            <a:ext cx="4014415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2,518</a:t>
            </a:r>
            <a:endParaRPr lang="en-US" sz="2850" dirty="0"/>
          </a:p>
        </p:txBody>
      </p:sp>
      <p:sp>
        <p:nvSpPr>
          <p:cNvPr id="14" name="Text 11"/>
          <p:cNvSpPr/>
          <p:nvPr/>
        </p:nvSpPr>
        <p:spPr>
          <a:xfrm>
            <a:off x="4633466" y="3705671"/>
            <a:ext cx="401441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Repeat Non-Subscribers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33466" y="3937322"/>
            <a:ext cx="401441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with 5+ purchases who have not converted to a subscription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96119" y="4215110"/>
            <a:ext cx="8151763" cy="576411"/>
          </a:xfrm>
          <a:prstGeom prst="roundRect">
            <a:avLst>
              <a:gd name="adj" fmla="val 8050"/>
            </a:avLst>
          </a:prstGeom>
          <a:solidFill>
            <a:srgbClr val="FCF2B5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549" y="4366022"/>
            <a:ext cx="138038" cy="11043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5018" y="4341093"/>
            <a:ext cx="7682433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Loyalty programs are not converting repeat buyers into subscribers. With 2,518 repeat non-subscribers, there is a significant untapped conversion opportunity.</a:t>
            </a:r>
            <a:endParaRPr lang="en-US" sz="8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0798D7-A25A-4725-AD45-C82D7811F54D}"/>
              </a:ext>
            </a:extLst>
          </p:cNvPr>
          <p:cNvSpPr/>
          <p:nvPr/>
        </p:nvSpPr>
        <p:spPr>
          <a:xfrm>
            <a:off x="7966463" y="4807922"/>
            <a:ext cx="1131451" cy="354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407"/>
            <a:ext cx="8151763" cy="23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Segmentation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699790"/>
            <a:ext cx="3983682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Segmentation Logic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863947"/>
            <a:ext cx="3983682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were classified into three tiers based on purchase history count, defined entirely in SQL — no external ML tools required.</a:t>
            </a:r>
            <a:endParaRPr lang="en-US" sz="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10407"/>
            <a:ext cx="3983682" cy="5289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7768" y="1304032"/>
            <a:ext cx="113333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4050" y="1195462"/>
            <a:ext cx="3540696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New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54050" y="1359619"/>
            <a:ext cx="354069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or very low purchase count — </a:t>
            </a:r>
            <a:r>
              <a:rPr lang="en-US" sz="5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83 customers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Critically low acquisition rate signals an urgent need for top-of-funnel investment.</a:t>
            </a:r>
            <a:endParaRPr lang="en-US" sz="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85404"/>
            <a:ext cx="3983682" cy="5289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768" y="1879029"/>
            <a:ext cx="113333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54050" y="1770459"/>
            <a:ext cx="3540696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Returning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854050" y="1934617"/>
            <a:ext cx="354069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Mid-tier with repeat intent — </a:t>
            </a:r>
            <a:r>
              <a:rPr lang="en-US" sz="5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701 customers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Prime candidates for loyalty incentives to accelerate conversion into the Loyal tier.</a:t>
            </a:r>
            <a:endParaRPr lang="en-US" sz="5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60402"/>
            <a:ext cx="3983682" cy="5289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7768" y="2454027"/>
            <a:ext cx="113333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854050" y="2345457"/>
            <a:ext cx="3540696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Loyal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854050" y="2509614"/>
            <a:ext cx="354069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Dominant segment — </a:t>
            </a:r>
            <a:r>
              <a:rPr lang="en-US" sz="5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3,116 customers (80%)</a:t>
            </a:r>
            <a:r>
              <a:rPr lang="en-US" sz="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Strong retention foundation, but concentration risk if acquisition remains stagnant.</a:t>
            </a:r>
            <a:endParaRPr lang="en-US" sz="550" dirty="0"/>
          </a:p>
        </p:txBody>
      </p:sp>
      <p:sp>
        <p:nvSpPr>
          <p:cNvPr id="17" name="Text 12"/>
          <p:cNvSpPr/>
          <p:nvPr/>
        </p:nvSpPr>
        <p:spPr>
          <a:xfrm>
            <a:off x="4668962" y="699790"/>
            <a:ext cx="3983682" cy="11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Segment Distribution</a:t>
            </a:r>
            <a:endParaRPr lang="en-US" sz="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62" y="869677"/>
            <a:ext cx="3983682" cy="2867471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962" y="3788941"/>
            <a:ext cx="2914948" cy="9542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7FDD107-4206-4849-B4A0-80D8F5AEA8F0}"/>
              </a:ext>
            </a:extLst>
          </p:cNvPr>
          <p:cNvSpPr/>
          <p:nvPr/>
        </p:nvSpPr>
        <p:spPr>
          <a:xfrm>
            <a:off x="7926993" y="4743227"/>
            <a:ext cx="1225611" cy="354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781"/>
            <a:ext cx="8151763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Product Performance &amp; Discount Dependency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84920"/>
            <a:ext cx="2725564" cy="1673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88642"/>
            <a:ext cx="3969544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Top-Rated Products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786211"/>
            <a:ext cx="3969544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ratings are clustered in a narrow band — indicating broadly consistent satisfaction across the catalog.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96119" y="3092723"/>
            <a:ext cx="3969544" cy="1244203"/>
          </a:xfrm>
          <a:prstGeom prst="roundRect">
            <a:avLst>
              <a:gd name="adj" fmla="val 29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6119" y="3301678"/>
            <a:ext cx="3969544" cy="5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96119" y="3508251"/>
            <a:ext cx="3969544" cy="5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96119" y="3714824"/>
            <a:ext cx="3969544" cy="5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96119" y="3921398"/>
            <a:ext cx="3969544" cy="5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4127971"/>
            <a:ext cx="3969544" cy="5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88094" y="3139008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Product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568104" y="3139008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Avg. Rating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88094" y="3345582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568104" y="3345582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3.86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588094" y="3552155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Blouse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568104" y="3552155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3.85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88094" y="3758729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Jewelry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2568104" y="3758729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588094" y="3965302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2568104" y="3965302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588094" y="4171876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Skirt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2568104" y="4171876"/>
            <a:ext cx="2262783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3.78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683100" y="2588642"/>
            <a:ext cx="3969544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Discount Dependency Risk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83100" y="2786211"/>
            <a:ext cx="3969544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Several high-volume items are discounted nearly </a:t>
            </a: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50% of the time</a:t>
            </a: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margin erosion risk requiring a pricing strategy review.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4683100" y="3092723"/>
            <a:ext cx="3969544" cy="1220391"/>
          </a:xfrm>
          <a:prstGeom prst="roundRect">
            <a:avLst>
              <a:gd name="adj" fmla="val 300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87863" y="3097485"/>
            <a:ext cx="3960019" cy="2018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75076" y="3139008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Product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6757467" y="3139008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Discount Rate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4687863" y="3299296"/>
            <a:ext cx="3960019" cy="2018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775076" y="3340819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6757467" y="3340819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b="1" dirty="0">
                <a:solidFill>
                  <a:srgbClr val="D2600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50.0%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4687863" y="3501107"/>
            <a:ext cx="3960019" cy="2018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4775076" y="3542630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6757467" y="3542630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49.5%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4687863" y="3702918"/>
            <a:ext cx="3960019" cy="2018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4775076" y="3744441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6757467" y="3744441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49.0%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4687863" y="3904729"/>
            <a:ext cx="3960019" cy="20181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4775076" y="3946252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Sweater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6757467" y="3946252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48.0%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4687863" y="4106540"/>
            <a:ext cx="3960019" cy="2018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4775076" y="4148063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6757467" y="4148063"/>
            <a:ext cx="226040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47.4%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96119" y="4474890"/>
            <a:ext cx="8151763" cy="278829"/>
          </a:xfrm>
          <a:prstGeom prst="roundRect">
            <a:avLst>
              <a:gd name="adj" fmla="val 13138"/>
            </a:avLst>
          </a:prstGeom>
          <a:solidFill>
            <a:srgbClr val="FFB3B4"/>
          </a:solidFill>
          <a:ln/>
        </p:spPr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32" y="4588520"/>
            <a:ext cx="109017" cy="87213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779562" y="4558010"/>
            <a:ext cx="8238306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discount dependency on popular items risks significant margin erosion. A tiered or time-limited discount model should be evaluated immediately.</a:t>
            </a:r>
            <a:endParaRPr lang="en-US" sz="65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33E7C4E-91EB-46E8-A367-E84CAD1F89F7}"/>
              </a:ext>
            </a:extLst>
          </p:cNvPr>
          <p:cNvSpPr/>
          <p:nvPr/>
        </p:nvSpPr>
        <p:spPr>
          <a:xfrm>
            <a:off x="7943876" y="4761822"/>
            <a:ext cx="1200123" cy="354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8396"/>
            <a:ext cx="815176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Power BI Dashboard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750838"/>
            <a:ext cx="860896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query results were translated into an </a:t>
            </a: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executive-ready visual layer</a:t>
            </a: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enabling non-technical stakeholders to interact with insights dynamically.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25264"/>
            <a:ext cx="5834063" cy="32139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4202162"/>
            <a:ext cx="2679948" cy="562942"/>
          </a:xfrm>
          <a:prstGeom prst="roundRect">
            <a:avLst>
              <a:gd name="adj" fmla="val 6218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4225" y="4290268"/>
            <a:ext cx="250373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KPIs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84225" y="4454054"/>
            <a:ext cx="2503736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3.9K</a:t>
            </a: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 · </a:t>
            </a: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$59.76</a:t>
            </a: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avg. purchase · </a:t>
            </a:r>
            <a:r>
              <a:rPr lang="en-US" sz="6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3.75</a:t>
            </a: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avg. review rating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3232026" y="4202162"/>
            <a:ext cx="2679948" cy="562942"/>
          </a:xfrm>
          <a:prstGeom prst="roundRect">
            <a:avLst>
              <a:gd name="adj" fmla="val 6218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20132" y="4290268"/>
            <a:ext cx="250373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Visualizations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20132" y="4454054"/>
            <a:ext cx="2503736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 charts for subscription status &amp; category sales; bar charts for revenue by age group &amp; product category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5967933" y="4202162"/>
            <a:ext cx="2679948" cy="562942"/>
          </a:xfrm>
          <a:prstGeom prst="roundRect">
            <a:avLst>
              <a:gd name="adj" fmla="val 6218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6040" y="4290268"/>
            <a:ext cx="250373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Interactivity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56040" y="4454054"/>
            <a:ext cx="2503736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 panel for Gender, Subscription Status, and other attributes — enabling dynamic slicing of all insights</a:t>
            </a:r>
            <a:endParaRPr lang="en-US" sz="6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6DF2DB-086A-4915-82EA-E89C6508997D}"/>
              </a:ext>
            </a:extLst>
          </p:cNvPr>
          <p:cNvSpPr/>
          <p:nvPr/>
        </p:nvSpPr>
        <p:spPr>
          <a:xfrm>
            <a:off x="8012474" y="4828058"/>
            <a:ext cx="1092608" cy="2914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69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Business Recommendations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55266"/>
            <a:ext cx="4013895" cy="11401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530" y="1193527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Boost Subscription Conversion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91530" y="1461790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27%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customers subscribe. Promote exclusive benefits — early access, free shipping — to convert the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2,518 repeat non-subscribers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who already demonstrate loyalty behaviors.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055266"/>
            <a:ext cx="4013895" cy="11401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29398" y="1193527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Accelerate Returning → Loyal Migration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829398" y="1461790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the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701 Returning customers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targeted loyalty incentives to accelerate their progression into the high-value Loyal segment.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19412"/>
            <a:ext cx="4013895" cy="11401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1530" y="2457673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Reform Discount Policy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91530" y="2725936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like Hat and Sneakers are discounted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~50%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the time. Introduce tiered or time-limited discounts to protect margins while preserving demand signals.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2319412"/>
            <a:ext cx="4013895" cy="11401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29398" y="2457673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Elevate Top-Rated Products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29398" y="2725936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items —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Gloves, Blouse, Jewelry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and best-sellers by category in marketing campaigns to leverage existing customer satisfaction signals.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583558"/>
            <a:ext cx="4013895" cy="11401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1530" y="3721819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Target High-Value Segments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1530" y="3990082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Concentrate acquisition spend on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Young Adults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(highest revenue: $62,143) and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Express shipping users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(higher avg. spend: $60.48) for maximum ROI.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3583558"/>
            <a:ext cx="4013895" cy="114017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29398" y="3721819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Invest in New Customer Acquisition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829398" y="3990082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only </a:t>
            </a:r>
            <a:r>
              <a:rPr lang="en-US" sz="95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83 new customers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the dataset, top-of-funnel campaigns are critical to diversify the customer base and reduce concentration risk in the Loyal tier.</a:t>
            </a:r>
            <a:endParaRPr lang="en-US" sz="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EB2F80-EB68-4A35-B69C-639748A1C549}"/>
              </a:ext>
            </a:extLst>
          </p:cNvPr>
          <p:cNvSpPr/>
          <p:nvPr/>
        </p:nvSpPr>
        <p:spPr>
          <a:xfrm>
            <a:off x="7942449" y="4773867"/>
            <a:ext cx="1201551" cy="354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2600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970</Words>
  <Application>Microsoft Office PowerPoint</Application>
  <PresentationFormat>On-screen Show (16:9)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Open Sans Bold</vt:lpstr>
      <vt:lpstr>Bitter Medium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prativa pudashani</cp:lastModifiedBy>
  <cp:revision>3</cp:revision>
  <dcterms:created xsi:type="dcterms:W3CDTF">2026-07-25T13:41:54Z</dcterms:created>
  <dcterms:modified xsi:type="dcterms:W3CDTF">2026-07-25T13:51:43Z</dcterms:modified>
</cp:coreProperties>
</file>